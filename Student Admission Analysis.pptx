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0" r:id="rId3"/>
    <p:sldId id="257" r:id="rId4"/>
    <p:sldId id="259" r:id="rId5"/>
    <p:sldId id="261" r:id="rId6"/>
    <p:sldId id="258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79" r:id="rId25"/>
    <p:sldId id="281" r:id="rId26"/>
    <p:sldId id="282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7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28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2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36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0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48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74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86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9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4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94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603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615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823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698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03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5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AD09ED0-78DF-4B87-9541-CD142F1078C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B3457AE-A907-4886-AC8B-0E65875D7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88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1508-9668-4429-0CDD-D361820E1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13900"/>
            <a:ext cx="12192000" cy="1641490"/>
          </a:xfrm>
        </p:spPr>
        <p:txBody>
          <a:bodyPr>
            <a:noAutofit/>
          </a:bodyPr>
          <a:lstStyle/>
          <a:p>
            <a:pPr algn="ctr"/>
            <a:r>
              <a:rPr lang="en-IN" sz="10000" dirty="0">
                <a:latin typeface="Algerian" panose="04020705040A02060702" pitchFamily="82" charset="0"/>
              </a:rPr>
              <a:t>Student Admission </a:t>
            </a:r>
            <a:br>
              <a:rPr lang="en-IN" sz="10000" dirty="0">
                <a:latin typeface="Algerian" panose="04020705040A02060702" pitchFamily="82" charset="0"/>
              </a:rPr>
            </a:br>
            <a:r>
              <a:rPr lang="en-IN" sz="10000" dirty="0">
                <a:latin typeface="Algerian" panose="04020705040A02060702" pitchFamily="82" charset="0"/>
              </a:rPr>
              <a:t>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58F84-58B6-98E0-C8A1-F196EFBC1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8898" y="1259875"/>
            <a:ext cx="2163433" cy="754025"/>
          </a:xfrm>
        </p:spPr>
        <p:txBody>
          <a:bodyPr>
            <a:noAutofit/>
          </a:bodyPr>
          <a:lstStyle/>
          <a:p>
            <a:r>
              <a:rPr lang="en-IN" sz="3000" dirty="0"/>
              <a:t> </a:t>
            </a:r>
          </a:p>
          <a:p>
            <a:r>
              <a:rPr lang="en-IN" sz="3000" dirty="0">
                <a:solidFill>
                  <a:schemeClr val="bg1"/>
                </a:solidFill>
                <a:highlight>
                  <a:srgbClr val="00FFFF"/>
                </a:highlight>
              </a:rPr>
              <a:t>Amol Crasta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73FD9D-1CB5-738E-980C-48C4056B698A}"/>
              </a:ext>
            </a:extLst>
          </p:cNvPr>
          <p:cNvSpPr txBox="1">
            <a:spLocks/>
          </p:cNvSpPr>
          <p:nvPr/>
        </p:nvSpPr>
        <p:spPr>
          <a:xfrm>
            <a:off x="-1" y="5675401"/>
            <a:ext cx="3853544" cy="754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000" dirty="0"/>
              <a:t>Mangalore</a:t>
            </a:r>
          </a:p>
          <a:p>
            <a:pPr algn="l"/>
            <a:r>
              <a:rPr lang="en-IN" sz="3000" dirty="0"/>
              <a:t>14-01-2025</a:t>
            </a:r>
          </a:p>
        </p:txBody>
      </p:sp>
    </p:spTree>
    <p:extLst>
      <p:ext uri="{BB962C8B-B14F-4D97-AF65-F5344CB8AC3E}">
        <p14:creationId xmlns:p14="http://schemas.microsoft.com/office/powerpoint/2010/main" val="105052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E16C72-A159-4258-C88B-A39CE58D0EC4}"/>
              </a:ext>
            </a:extLst>
          </p:cNvPr>
          <p:cNvSpPr txBox="1"/>
          <p:nvPr/>
        </p:nvSpPr>
        <p:spPr>
          <a:xfrm>
            <a:off x="0" y="49927"/>
            <a:ext cx="12192000" cy="9787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6400" b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  <a:ea typeface="+mj-ea"/>
                <a:cs typeface="+mj-cs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DF3475-8244-B013-B086-08790581F655}"/>
              </a:ext>
            </a:extLst>
          </p:cNvPr>
          <p:cNvSpPr>
            <a:spLocks noGrp="1"/>
          </p:cNvSpPr>
          <p:nvPr/>
        </p:nvSpPr>
        <p:spPr>
          <a:xfrm>
            <a:off x="0" y="1463534"/>
            <a:ext cx="11811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Understand student admission patterns using historical data.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Identify factors influencing admission decisions.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Support academic and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5426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7B78-C761-F20C-B1D8-89A4760A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26"/>
            <a:ext cx="9552214" cy="1035730"/>
          </a:xfrm>
        </p:spPr>
        <p:txBody>
          <a:bodyPr>
            <a:noAutofit/>
          </a:bodyPr>
          <a:lstStyle/>
          <a:p>
            <a:r>
              <a:rPr lang="en-IN" sz="64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Data Set Description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93B1B-D3ED-3A6E-A885-CB5ADCBF3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240970"/>
            <a:ext cx="11087100" cy="550272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dataset provides a comprehensive and realistic representation of the college admission landscape in India.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Includes information about students from 26 different Indian states, spanning diverse academic backgrounds and career aspirations.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dataset contains a wide range of variables such as demographics, preferred streams, entrance exams (JEE, NEET, CET), Class 12 board performance, extracurricular involvement, admission probability, and final decision.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dataset is synthetically generated but modeled to resemble real patterns observed in Indian admissions.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62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B86D-FEBE-B10B-D4FA-E3C470630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>
            <a:normAutofit/>
          </a:bodyPr>
          <a:lstStyle/>
          <a:p>
            <a:pPr algn="ctr"/>
            <a:r>
              <a:rPr lang="en-IN" sz="10000" dirty="0">
                <a:latin typeface="Algerian" panose="04020705040A02060702" pitchFamily="82" charset="0"/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153188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4935-91C6-8D8E-109E-E991661D897C}"/>
              </a:ext>
            </a:extLst>
          </p:cNvPr>
          <p:cNvSpPr>
            <a:spLocks noGrp="1"/>
          </p:cNvSpPr>
          <p:nvPr/>
        </p:nvSpPr>
        <p:spPr>
          <a:xfrm>
            <a:off x="-1224642" y="-212273"/>
            <a:ext cx="10210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Initial Data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0623B-ACBB-2F99-87BB-AD9CD46CFD2B}"/>
              </a:ext>
            </a:extLst>
          </p:cNvPr>
          <p:cNvSpPr>
            <a:spLocks noGrp="1"/>
          </p:cNvSpPr>
          <p:nvPr/>
        </p:nvSpPr>
        <p:spPr>
          <a:xfrm>
            <a:off x="0" y="1012578"/>
            <a:ext cx="6955971" cy="34668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Used df.info() to check data types and null values.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Verified dataset structure and column consistency.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Ensured readiness for cleaning and analysis.</a:t>
            </a:r>
            <a:endParaRPr lang="en-IN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IN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There was no missing data and null Values.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IN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C5725C-EE46-DC6F-0C0D-3CC61963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4446" y="1485900"/>
            <a:ext cx="4691740" cy="25309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B7D10E-4288-AB7D-7293-6FD4EA5EA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566" y="4117972"/>
            <a:ext cx="3268620" cy="25309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3FDFC3-B6AD-AA07-CE4C-4CACA9C6C3F1}"/>
              </a:ext>
            </a:extLst>
          </p:cNvPr>
          <p:cNvSpPr>
            <a:spLocks noGrp="1"/>
          </p:cNvSpPr>
          <p:nvPr/>
        </p:nvSpPr>
        <p:spPr>
          <a:xfrm>
            <a:off x="-1" y="4861367"/>
            <a:ext cx="6955971" cy="199663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Suggestion: Category , State , Preferred Stream(based on entrance exam, scholarship), admission status(based on admission probability, entrance exam(based on State) can be best to fill using mode.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Entrance Score(based on entrance exam),board percentage( based on state),extracurricular score(based on board percentage) can be best filled using mean.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IN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IN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2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765C-83F8-8B02-985B-79AD77DA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7829"/>
            <a:ext cx="9388929" cy="1485900"/>
          </a:xfrm>
        </p:spPr>
        <p:txBody>
          <a:bodyPr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Required Column Headers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07F4B-F65F-C735-2235-075E9AE13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028700"/>
            <a:ext cx="6515100" cy="5486400"/>
          </a:xfrm>
        </p:spPr>
        <p:txBody>
          <a:bodyPr>
            <a:normAutofit/>
          </a:bodyPr>
          <a:lstStyle/>
          <a:p>
            <a:pPr latinLnBrk="1"/>
            <a:r>
              <a:rPr lang="en-IN" sz="2000" dirty="0"/>
              <a:t> 0   </a:t>
            </a:r>
            <a:r>
              <a:rPr lang="en-IN" sz="2000" dirty="0" err="1"/>
              <a:t>student_id</a:t>
            </a:r>
            <a:r>
              <a:rPr lang="en-IN" sz="2000" dirty="0"/>
              <a:t> – not required</a:t>
            </a:r>
          </a:p>
          <a:p>
            <a:pPr latinLnBrk="1"/>
            <a:r>
              <a:rPr lang="en-IN" sz="2000" dirty="0"/>
              <a:t> 1   age  - not required </a:t>
            </a:r>
          </a:p>
          <a:p>
            <a:pPr latinLnBrk="1"/>
            <a:r>
              <a:rPr lang="en-IN" sz="2000" dirty="0"/>
              <a:t> 2   gender - not required </a:t>
            </a:r>
          </a:p>
          <a:p>
            <a:pPr latinLnBrk="1"/>
            <a:r>
              <a:rPr lang="en-IN" sz="2000" dirty="0"/>
              <a:t>3   category – required </a:t>
            </a:r>
          </a:p>
          <a:p>
            <a:pPr latinLnBrk="1"/>
            <a:r>
              <a:rPr lang="en-IN" sz="2000" dirty="0"/>
              <a:t> 4   state  - required</a:t>
            </a:r>
          </a:p>
          <a:p>
            <a:pPr latinLnBrk="1"/>
            <a:r>
              <a:rPr lang="en-IN" sz="2000" dirty="0"/>
              <a:t> 5   </a:t>
            </a:r>
            <a:r>
              <a:rPr lang="en-IN" sz="2000" dirty="0" err="1"/>
              <a:t>preferred_stream</a:t>
            </a:r>
            <a:r>
              <a:rPr lang="en-IN" sz="2000" dirty="0"/>
              <a:t>  - required </a:t>
            </a:r>
          </a:p>
          <a:p>
            <a:pPr latinLnBrk="1"/>
            <a:r>
              <a:rPr lang="en-IN" sz="2000" dirty="0"/>
              <a:t> 6   </a:t>
            </a:r>
            <a:r>
              <a:rPr lang="en-IN" sz="2000" dirty="0" err="1"/>
              <a:t>entrance_exam</a:t>
            </a:r>
            <a:r>
              <a:rPr lang="en-IN" sz="2000" dirty="0"/>
              <a:t>  - required </a:t>
            </a:r>
          </a:p>
          <a:p>
            <a:pPr latinLnBrk="1"/>
            <a:r>
              <a:rPr lang="en-IN" sz="2000" dirty="0"/>
              <a:t> 7   </a:t>
            </a:r>
            <a:r>
              <a:rPr lang="en-IN" sz="2000" dirty="0" err="1"/>
              <a:t>entrance_score</a:t>
            </a:r>
            <a:r>
              <a:rPr lang="en-IN" sz="2000" dirty="0"/>
              <a:t> - required  </a:t>
            </a:r>
          </a:p>
          <a:p>
            <a:pPr latinLnBrk="1"/>
            <a:r>
              <a:rPr lang="en-IN" sz="2000" dirty="0"/>
              <a:t> 8   </a:t>
            </a:r>
            <a:r>
              <a:rPr lang="en-IN" sz="2000" dirty="0" err="1"/>
              <a:t>board_percentage</a:t>
            </a:r>
            <a:r>
              <a:rPr lang="en-IN" sz="2000" dirty="0"/>
              <a:t> - required </a:t>
            </a:r>
          </a:p>
          <a:p>
            <a:pPr marL="342900" indent="-342900" latinLnBrk="1">
              <a:buAutoNum type="arabicPlain" startAt="9"/>
            </a:pPr>
            <a:r>
              <a:rPr lang="en-IN" sz="2000" dirty="0" err="1"/>
              <a:t>extracurricular_score</a:t>
            </a:r>
            <a:r>
              <a:rPr lang="en-IN" sz="2000" dirty="0"/>
              <a:t>  - required </a:t>
            </a:r>
          </a:p>
          <a:p>
            <a:pPr marL="342900" indent="-342900" latinLnBrk="1">
              <a:buAutoNum type="arabicPlain" startAt="9"/>
            </a:pPr>
            <a:r>
              <a:rPr lang="en-IN" sz="2000" dirty="0" err="1"/>
              <a:t>admission_probability</a:t>
            </a:r>
            <a:r>
              <a:rPr lang="en-IN" sz="2000" dirty="0"/>
              <a:t> - required</a:t>
            </a:r>
          </a:p>
          <a:p>
            <a:pPr latinLnBrk="1"/>
            <a:r>
              <a:rPr lang="en-IN" sz="2000" dirty="0"/>
              <a:t> 11  </a:t>
            </a:r>
            <a:r>
              <a:rPr lang="en-IN" sz="2000" dirty="0" err="1"/>
              <a:t>admission_status</a:t>
            </a:r>
            <a:r>
              <a:rPr lang="en-IN" sz="2000" dirty="0"/>
              <a:t> - required </a:t>
            </a:r>
          </a:p>
          <a:p>
            <a:pPr latinLnBrk="1"/>
            <a:r>
              <a:rPr lang="en-IN" sz="2000" dirty="0"/>
              <a:t> 12  </a:t>
            </a:r>
            <a:r>
              <a:rPr lang="en-IN" sz="2000" dirty="0" err="1"/>
              <a:t>scholarship_eligibility</a:t>
            </a:r>
            <a:r>
              <a:rPr lang="en-IN" sz="2000" dirty="0"/>
              <a:t> - required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AE94B5-329E-F155-0981-4AF7B617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170" y="1151164"/>
            <a:ext cx="3216729" cy="524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2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7112-5F98-1B0E-BFF7-B5E1FF8B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3988"/>
            <a:ext cx="12001500" cy="184512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Additional Columns required for Visualisation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DFD2-31F0-2D1A-20D9-463C722FB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6614" y="2220686"/>
            <a:ext cx="5939386" cy="381158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Additional requirement – 2 columns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Cutoff of board percentage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Cutoff of Entrance score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Bin width of range 10 for board percentage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Bin width of range 100 for Entrance score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2BF05-2FA8-54BC-4245-E2BEF7EA1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161" y="2220686"/>
            <a:ext cx="6474839" cy="143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0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8DF51-4BF1-B951-B39E-71278A6EE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sz="10000" dirty="0">
                <a:latin typeface="Algerian" panose="04020705040A02060702" pitchFamily="82" charset="0"/>
              </a:rPr>
              <a:t>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19919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234F-879C-CD1A-5A27-E665F096F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98879"/>
            <a:ext cx="9617529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Admission status per State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0DEB3-07D0-F675-DAA0-C2A291BAC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996950"/>
            <a:ext cx="5735411" cy="586105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graph shows number of students from each state, split by Admitted vs Not Admitted.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Certain states have </a:t>
            </a:r>
          </a:p>
          <a:p>
            <a:r>
              <a:rPr lang="en-US" sz="2000" dirty="0"/>
              <a:t>	a. More applicants</a:t>
            </a:r>
          </a:p>
          <a:p>
            <a:r>
              <a:rPr lang="en-US" sz="2000" dirty="0"/>
              <a:t>	b. Better academic preparation</a:t>
            </a:r>
          </a:p>
          <a:p>
            <a:r>
              <a:rPr lang="en-US" sz="2000" dirty="0"/>
              <a:t>	c. Higher awareness of the institution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States with higher applicant quality will continue to dominate admissions.</a:t>
            </a:r>
          </a:p>
          <a:p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Increase outreach and awareness in low-admission states.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Analyze state-wise academic support or eligibility gaps.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781D58-5CEA-0FB5-8692-F983D8DD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1126671"/>
            <a:ext cx="6351815" cy="563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5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4359-E66E-6E09-EC9C-2316AAB2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BC8A-733D-9FE3-0B1A-24704CD3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State VS entrance exam participation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E0692-211D-386E-BD70-34494D885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Students from different states prefer or appear for different entrance exams.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Entrance exam popularity varies by region.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Coaching availability and exam awareness differ state-wise.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States aligned with popular exams will have better admission chances.</a:t>
            </a:r>
          </a:p>
          <a:p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Accept multiple entrance exams fairly.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Normalizing scores across exams.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3B4730-ABC8-5B21-D031-E4F530B5F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043" y="1519008"/>
            <a:ext cx="6466114" cy="517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2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35AB-B813-E804-F441-E30617C0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F1D3-CDB0-92CA-4419-551596E0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Entrance exam vs admission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97FC3-331D-28A9-0077-D7FE6C0DC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CET</a:t>
            </a:r>
            <a:r>
              <a:rPr lang="en-US" sz="2000" dirty="0"/>
              <a:t> entrance exams show higher admission success rates.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JEE</a:t>
            </a:r>
            <a:r>
              <a:rPr lang="en-US" sz="2000" dirty="0"/>
              <a:t> and </a:t>
            </a:r>
            <a:r>
              <a:rPr lang="en-US" sz="2000" b="1" dirty="0"/>
              <a:t>NEET</a:t>
            </a:r>
            <a:r>
              <a:rPr lang="en-US" sz="2000" dirty="0"/>
              <a:t> are better aligned with admission criteria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They are more competitive.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Students will prefer exams with higher success rates.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Competition in those exams will increase.</a:t>
            </a:r>
          </a:p>
          <a:p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Regularly</a:t>
            </a:r>
            <a:r>
              <a:rPr lang="en-IN" sz="2000" dirty="0"/>
              <a:t> review exam weightage.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Avoid over-dependence on a single exam.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5A0DF8-D65E-CA5E-EC10-0235169E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0" y="1061356"/>
            <a:ext cx="6237515" cy="556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80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26CE0-298D-7EA7-DA32-E3D1B18F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B028-1CE9-D8E9-7436-56C08534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Preferred stream vs admission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06D3C-6D60-DB1C-F8E2-C8DF43B4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Some streams have </a:t>
            </a:r>
            <a:r>
              <a:rPr lang="en-US" sz="2000" b="1" dirty="0"/>
              <a:t>more admitted students</a:t>
            </a:r>
            <a:r>
              <a:rPr lang="en-US" sz="2000" dirty="0"/>
              <a:t> than others.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Popular streams have:</a:t>
            </a:r>
          </a:p>
          <a:p>
            <a:r>
              <a:rPr lang="en-US" sz="2000" dirty="0"/>
              <a:t>	a. More seats</a:t>
            </a:r>
          </a:p>
          <a:p>
            <a:r>
              <a:rPr lang="en-US" sz="2000" dirty="0"/>
              <a:t>	b. Higher demand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Some streams are more selective.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Popular streams will remain competitive.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Less popular seats will have seat vacancies.</a:t>
            </a:r>
          </a:p>
          <a:p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Balance seat allocation</a:t>
            </a:r>
            <a:r>
              <a:rPr lang="en-IN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Promote lesser-known streams with strong career outcomes.</a:t>
            </a:r>
          </a:p>
          <a:p>
            <a:endParaRPr lang="en-IN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7902C3-8013-6F60-09BA-A567CCC92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13" y="1519009"/>
            <a:ext cx="6711043" cy="520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27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5BC1-20D6-9558-D252-64238776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A26F-8725-BE18-6130-0DCEA183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Board percentage cut vs admission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26B2A-FEDF-B598-5AEF-6879838B0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Higher board percentage ranges show </a:t>
            </a:r>
            <a:r>
              <a:rPr lang="en-US" sz="2000" b="1" dirty="0"/>
              <a:t>more admissions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Board percentage is a </a:t>
            </a:r>
            <a:r>
              <a:rPr lang="en-US" sz="2000" b="1" dirty="0"/>
              <a:t>key eligibility criterion.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Higher scores indicate better academic readiness.</a:t>
            </a:r>
            <a:r>
              <a:rPr lang="en-US" sz="2000" b="1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Cut-offs may increase over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Competition will intensify in top score brackets.</a:t>
            </a:r>
          </a:p>
          <a:p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Introduce flexibility near cut-off margins.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Consider percentile-based evaluation.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8429A3-CC38-EBF4-8A58-4AE6A07F3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1428471"/>
            <a:ext cx="6289364" cy="533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47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DEDA-F87F-1836-49FD-2DB1E04F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694C-B7E3-00CF-430A-4525DC1B0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Extracurricular score vs admission status(admission only)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8B9B6-C7A3-B91C-2041-93AE9D0D9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Students with higher extracurricular scores have </a:t>
            </a:r>
            <a:r>
              <a:rPr lang="en-US" sz="2000" b="1" dirty="0"/>
              <a:t>better admission chances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Institutions value </a:t>
            </a:r>
            <a:r>
              <a:rPr lang="en-US" sz="2000" b="1" dirty="0"/>
              <a:t>holistic development</a:t>
            </a:r>
            <a:r>
              <a:rPr lang="en-US" sz="2000" dirty="0"/>
              <a:t>, not just academics.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Extracurriculars will gain more importance.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Students will focus on all-round profiles.</a:t>
            </a:r>
            <a:endParaRPr lang="en-US" sz="2000" b="1" dirty="0"/>
          </a:p>
          <a:p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Clearly define extracurricular weightage.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Standardize scoring to avoid subjectivity.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DEEFCC-119A-4107-D2E9-C593681D0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1576129"/>
            <a:ext cx="6313179" cy="50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1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02E0-CDF9-1398-6DFB-F2870A9C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4E79-D76F-CAB0-95E0-E5685849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Category VS entrance exam vs admission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14F46-0C41-B9A7-19E8-6829D1051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Admission outcomes vary by </a:t>
            </a:r>
            <a:r>
              <a:rPr lang="en-US" sz="2000" b="1" dirty="0"/>
              <a:t>category and entrance exam combination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Reservation policies and exam difficulty differ.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Category-based cut-offs influence results.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Admission patterns will remain structured by policy.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Certain category–exam combinations will dominate.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Monitor fairness across categories.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Periodically review category-based criteria.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F098A-0FEB-03F0-F6EA-A1E9CB6CE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1599944"/>
            <a:ext cx="6303653" cy="509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02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E492-6CCA-7B5E-8722-14C5A5A0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BDA1-5AFF-8115-1154-FD948040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Scholarship eligibility vs admission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AA573-6052-6645-7FE1-EBB4FCED8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Scholarship-eligible students show </a:t>
            </a:r>
            <a:r>
              <a:rPr lang="en-US" sz="2000" b="1" dirty="0"/>
              <a:t>higher admission rates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Scholarships attract strong candidates.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Financial support improves enrolment decisions.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Scholarships will continue to influence admissions positively.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Expand scholarship programs.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Target high-potential but underprivileged students.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EA5C5E-1532-E362-AA09-B7B0A4F9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971" y="1519009"/>
            <a:ext cx="6253844" cy="512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6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8BD0-5B27-4A13-A920-6DC78BBE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3CF6-FF17-9E1B-016B-1033F99A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40" y="62094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Exam Score vs board percentage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473E1-8684-B93C-18C2-F306AC56E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 positive relationship between entrance score and board percentage.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Strong academic students tend to perform well consistently.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These variables will remain strong predictors in models.</a:t>
            </a:r>
          </a:p>
          <a:p>
            <a:r>
              <a:rPr lang="en-US" sz="2500" b="1" dirty="0">
                <a:latin typeface="+mj-lt"/>
              </a:rPr>
              <a:t>Suggestions: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Use both scores together for better evaluation.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Avoid relying on only one metric.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A65EB-B8FC-A1B7-8A73-AC8B087D8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271" y="1519009"/>
            <a:ext cx="6094106" cy="522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42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491F-D194-6BAB-2C5E-3AF94B8F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1AAF-830E-093C-EF95-4F68C6DD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sz="10000" dirty="0">
                <a:latin typeface="Algerian" panose="04020705040A02060702" pitchFamily="82" charset="0"/>
              </a:rPr>
              <a:t>Feature Encoding</a:t>
            </a:r>
          </a:p>
        </p:txBody>
      </p:sp>
    </p:spTree>
    <p:extLst>
      <p:ext uri="{BB962C8B-B14F-4D97-AF65-F5344CB8AC3E}">
        <p14:creationId xmlns:p14="http://schemas.microsoft.com/office/powerpoint/2010/main" val="672382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8386-11CE-6700-2B1D-FFF106C7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6455-0F12-8D2C-7A9A-252BB01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Encoding the dataset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80204-EC56-192D-B4D8-59D08FA24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36740" y="1519010"/>
            <a:ext cx="5735411" cy="53389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Label Encoder for binary data. (Yes/No)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Admission Status, Scholarship Eligibility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One Hot Encoder for categorical features.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Entrance exam, Category, Preferred Stream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6B00F-0CF2-7DD1-EA47-98FEC20C7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05" y="1347020"/>
            <a:ext cx="6841613" cy="323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41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4D7B-0A3D-0109-CBA7-520E7CF4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B7B3-FF45-91E5-4C20-9789882B7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sz="10000" dirty="0">
                <a:latin typeface="Algerian" panose="04020705040A02060702" pitchFamily="82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75720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A870-71FC-2E98-F892-D50F516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2A-13E0-3ACB-22CF-51C01D60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Logistic Regressor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D2739-9A8B-5AD1-DA96-0A2FE6668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8370" y="1012371"/>
            <a:ext cx="5735411" cy="277585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Import  the necessary libraries.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Scaling the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Splitting into training and testing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Training the model using logistic regressor.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Model Evaluation.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Testing on New Data</a:t>
            </a:r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95E9C-CE6C-207C-8C8D-76F3C5D45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1012371"/>
            <a:ext cx="6385992" cy="5714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ABFD37-7124-3E72-60EF-CB2E6C912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8" y="3771899"/>
            <a:ext cx="4494159" cy="30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47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B130A-B705-E782-E76D-82867B9D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2FBA-9E6E-0813-C376-2A24085C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 err="1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Knn</a:t>
            </a:r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 classifier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FC039-4899-6D44-EFFB-E16D78B7C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8370" y="1012371"/>
            <a:ext cx="5735411" cy="277585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Import  the necessary libraries.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Scaling the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Splitting into training and testing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Training the model using logistic regressor.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Model Evaluation.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Testing on New Data</a:t>
            </a:r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169D5-C978-1CAA-9669-8F6DB50AD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31" y="1111044"/>
            <a:ext cx="6241633" cy="5746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473E1E-00E6-95C3-4503-FA1D9D9B2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36" y="3677264"/>
            <a:ext cx="4137529" cy="3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33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625F-4C57-F9AC-E2D9-55C2CEDF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48DE-4743-3DDC-B548-883CC303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Decision tree Classifier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A4693-26EB-F9BA-5813-828584E2A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8370" y="1012371"/>
            <a:ext cx="5735411" cy="277585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Import  the necessary libraries.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Scaling the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Splitting into training and testing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Training the model using logistic regressor.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Model Evaluation.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Testing on New Data</a:t>
            </a:r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1A0C2-5FD0-3C7E-C7EC-9ACDF0FDF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12371"/>
            <a:ext cx="5896798" cy="5714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2A538B-0026-F121-73E6-BA4FDDD0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01" y="3606082"/>
            <a:ext cx="3841858" cy="294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66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6D3D-4630-D6F9-D739-3A4C8280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BBD2-CB59-8B59-68A0-8A95E170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RANDOM FOREST Classifier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9911E-1BA2-1ADE-596A-82497F137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8370" y="1012371"/>
            <a:ext cx="5735411" cy="277585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Import  the necessary libraries.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Scaling the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Splitting into training and testing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Training the model using logistic regressor.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Model Evaluation.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Testing on New Data</a:t>
            </a:r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58F8D-A3AB-542E-7C89-96B9EF82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159" y="1012371"/>
            <a:ext cx="6108072" cy="5845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C2DFD3-83F6-694F-AFA5-2FE8AD71B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69" y="3689901"/>
            <a:ext cx="3596882" cy="295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90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36CC-92B6-2AB0-AC35-422B4188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DF0DD-1368-6E0A-C0BA-EBC20551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Support Vector Classifier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78F99-490E-5855-3EB5-91760FE21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8370" y="1012371"/>
            <a:ext cx="5735411" cy="277585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Import  the necessary libraries.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Scaling the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Splitting into training and testing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Training the model using logistic regressor.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Model Evaluation.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Testing on New Data</a:t>
            </a:r>
          </a:p>
          <a:p>
            <a:pPr lvl="1"/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7DB02-9341-206A-488A-344E5379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361" y="898070"/>
            <a:ext cx="6282813" cy="595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E97017-0D10-6B1A-CB5A-578DCE908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06" y="3648815"/>
            <a:ext cx="4149213" cy="320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99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FF13-ABFE-6B19-034F-37778683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5D7E-27EE-4E5E-F21D-B7F1AFE36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Comparison 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0AF08-0133-03DF-DBDD-AF6DB00FE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499" y="898070"/>
            <a:ext cx="9503002" cy="595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66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E42D-9D3E-251A-DFD9-7FD0C9F4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56CA4-CCF7-6333-FAA3-C427D01E1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70" y="0"/>
            <a:ext cx="12228740" cy="89807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IN" sz="5000" dirty="0">
                <a:solidFill>
                  <a:schemeClr val="bg1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CA4B5-897B-9B5F-C4E7-79B869B49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8370" y="1012371"/>
            <a:ext cx="12085184" cy="277585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Notebook steps followed a structured data analysis approach.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Insights can help institutions refine admission strategies.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Project demonstrates practical analytics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99727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F93E-481E-AEC9-8A05-4E7561B5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73AF-A317-DF4D-0B63-545A43410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08255"/>
            <a:ext cx="12192000" cy="1641490"/>
          </a:xfrm>
        </p:spPr>
        <p:txBody>
          <a:bodyPr>
            <a:noAutofit/>
          </a:bodyPr>
          <a:lstStyle/>
          <a:p>
            <a:pPr algn="ctr"/>
            <a:r>
              <a:rPr lang="en-IN" sz="10000" dirty="0">
                <a:latin typeface="Algerian" panose="04020705040A02060702" pitchFamily="82" charset="0"/>
              </a:rPr>
              <a:t>Thank </a:t>
            </a:r>
            <a:r>
              <a:rPr lang="en-IN" sz="10000" dirty="0" err="1">
                <a:latin typeface="Algerian" panose="04020705040A02060702" pitchFamily="82" charset="0"/>
              </a:rPr>
              <a:t>YOu</a:t>
            </a:r>
            <a:endParaRPr lang="en-IN" sz="10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49291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4081</TotalTime>
  <Words>1093</Words>
  <Application>Microsoft Office PowerPoint</Application>
  <PresentationFormat>Widescreen</PresentationFormat>
  <Paragraphs>199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Algerian</vt:lpstr>
      <vt:lpstr>Arial</vt:lpstr>
      <vt:lpstr>Corbel</vt:lpstr>
      <vt:lpstr>Wingdings</vt:lpstr>
      <vt:lpstr>Depth</vt:lpstr>
      <vt:lpstr>Student Admission  Data</vt:lpstr>
      <vt:lpstr>PowerPoint Presentation</vt:lpstr>
      <vt:lpstr>Data Set Description</vt:lpstr>
      <vt:lpstr>Data Cleaning</vt:lpstr>
      <vt:lpstr>PowerPoint Presentation</vt:lpstr>
      <vt:lpstr>Required Column Headers</vt:lpstr>
      <vt:lpstr>Additional Columns required for Visualisation</vt:lpstr>
      <vt:lpstr>Visualizations</vt:lpstr>
      <vt:lpstr>Admission status per State</vt:lpstr>
      <vt:lpstr>State VS entrance exam participation</vt:lpstr>
      <vt:lpstr>Entrance exam vs admission status</vt:lpstr>
      <vt:lpstr>Preferred stream vs admission status</vt:lpstr>
      <vt:lpstr>Board percentage cut vs admission status</vt:lpstr>
      <vt:lpstr>Extracurricular score vs admission status(admission only)</vt:lpstr>
      <vt:lpstr>Category VS entrance exam vs admission status</vt:lpstr>
      <vt:lpstr>Scholarship eligibility vs admission status</vt:lpstr>
      <vt:lpstr>Exam Score vs board percentage</vt:lpstr>
      <vt:lpstr>Feature Encoding</vt:lpstr>
      <vt:lpstr>Encoding the dataset </vt:lpstr>
      <vt:lpstr>Machine Learning</vt:lpstr>
      <vt:lpstr>Logistic Regressor</vt:lpstr>
      <vt:lpstr>Knn classifier</vt:lpstr>
      <vt:lpstr>Decision tree Classifier</vt:lpstr>
      <vt:lpstr>RANDOM FOREST Classifier</vt:lpstr>
      <vt:lpstr>Support Vector Classifier</vt:lpstr>
      <vt:lpstr>Comparison Graphs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Amol Crasta</dc:creator>
  <cp:lastModifiedBy>Amol Crasta</cp:lastModifiedBy>
  <cp:revision>4</cp:revision>
  <dcterms:created xsi:type="dcterms:W3CDTF">2026-01-10T17:18:09Z</dcterms:created>
  <dcterms:modified xsi:type="dcterms:W3CDTF">2026-02-28T09:12:46Z</dcterms:modified>
</cp:coreProperties>
</file>